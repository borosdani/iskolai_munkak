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1" r:id="rId1"/>
  </p:sldMasterIdLst>
  <p:sldIdLst>
    <p:sldId id="256" r:id="rId2"/>
    <p:sldId id="260" r:id="rId3"/>
    <p:sldId id="258" r:id="rId4"/>
    <p:sldId id="259" r:id="rId5"/>
    <p:sldId id="257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7E9F"/>
    <a:srgbClr val="400E57"/>
    <a:srgbClr val="3F78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22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4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0E2A6-0837-44AA-B201-694169F92982}" type="datetimeFigureOut">
              <a:rPr lang="hu-HU" smtClean="0"/>
              <a:t>2025.09.22.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32366-BE41-4541-90DD-CBCDD8AF0E1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33364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0E2A6-0837-44AA-B201-694169F92982}" type="datetimeFigureOut">
              <a:rPr lang="hu-HU" smtClean="0"/>
              <a:t>2025.09.22.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32366-BE41-4541-90DD-CBCDD8AF0E1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29348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0E2A6-0837-44AA-B201-694169F92982}" type="datetimeFigureOut">
              <a:rPr lang="hu-HU" smtClean="0"/>
              <a:t>2025.09.22.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32366-BE41-4541-90DD-CBCDD8AF0E1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88145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0E2A6-0837-44AA-B201-694169F92982}" type="datetimeFigureOut">
              <a:rPr lang="hu-HU" smtClean="0"/>
              <a:t>2025.09.22.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32366-BE41-4541-90DD-CBCDD8AF0E1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50270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0E2A6-0837-44AA-B201-694169F92982}" type="datetimeFigureOut">
              <a:rPr lang="hu-HU" smtClean="0"/>
              <a:t>2025.09.22.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32366-BE41-4541-90DD-CBCDD8AF0E1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21273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0E2A6-0837-44AA-B201-694169F92982}" type="datetimeFigureOut">
              <a:rPr lang="hu-HU" smtClean="0"/>
              <a:t>2025.09.22.</a:t>
            </a:fld>
            <a:endParaRPr lang="hu-H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32366-BE41-4541-90DD-CBCDD8AF0E1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04344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0E2A6-0837-44AA-B201-694169F92982}" type="datetimeFigureOut">
              <a:rPr lang="hu-HU" smtClean="0"/>
              <a:t>2025.09.22.</a:t>
            </a:fld>
            <a:endParaRPr lang="hu-H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32366-BE41-4541-90DD-CBCDD8AF0E1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67361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0E2A6-0837-44AA-B201-694169F92982}" type="datetimeFigureOut">
              <a:rPr lang="hu-HU" smtClean="0"/>
              <a:t>2025.09.22.</a:t>
            </a:fld>
            <a:endParaRPr lang="hu-H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32366-BE41-4541-90DD-CBCDD8AF0E1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54496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0E2A6-0837-44AA-B201-694169F92982}" type="datetimeFigureOut">
              <a:rPr lang="hu-HU" smtClean="0"/>
              <a:t>2025.09.22.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32366-BE41-4541-90DD-CBCDD8AF0E1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20178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0E2A6-0837-44AA-B201-694169F92982}" type="datetimeFigureOut">
              <a:rPr lang="hu-HU" smtClean="0"/>
              <a:t>2025.09.22.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32366-BE41-4541-90DD-CBCDD8AF0E1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50729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0E2A6-0837-44AA-B201-694169F92982}" type="datetimeFigureOut">
              <a:rPr lang="hu-HU" smtClean="0"/>
              <a:t>2025.09.22.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32366-BE41-4541-90DD-CBCDD8AF0E1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528512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0E2A6-0837-44AA-B201-694169F92982}" type="datetimeFigureOut">
              <a:rPr lang="hu-HU" smtClean="0"/>
              <a:t>2025.09.22.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32366-BE41-4541-90DD-CBCDD8AF0E10}" type="slidenum">
              <a:rPr lang="hu-HU" smtClean="0"/>
              <a:t>‹#›</a:t>
            </a:fld>
            <a:endParaRPr lang="hu-HU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699728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0E2A6-0837-44AA-B201-694169F92982}" type="datetimeFigureOut">
              <a:rPr lang="hu-HU" smtClean="0"/>
              <a:t>2025.09.22.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32366-BE41-4541-90DD-CBCDD8AF0E1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889744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0E2A6-0837-44AA-B201-694169F92982}" type="datetimeFigureOut">
              <a:rPr lang="hu-HU" smtClean="0"/>
              <a:t>2025.09.22.</a:t>
            </a:fld>
            <a:endParaRPr lang="hu-H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32366-BE41-4541-90DD-CBCDD8AF0E1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815389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0E2A6-0837-44AA-B201-694169F92982}" type="datetimeFigureOut">
              <a:rPr lang="hu-HU" smtClean="0"/>
              <a:t>2025.09.22.</a:t>
            </a:fld>
            <a:endParaRPr lang="hu-H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32366-BE41-4541-90DD-CBCDD8AF0E1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468308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0E2A6-0837-44AA-B201-694169F92982}" type="datetimeFigureOut">
              <a:rPr lang="hu-HU" smtClean="0"/>
              <a:t>2025.09.22.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32366-BE41-4541-90DD-CBCDD8AF0E1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424117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0E2A6-0837-44AA-B201-694169F92982}" type="datetimeFigureOut">
              <a:rPr lang="hu-HU" smtClean="0"/>
              <a:t>2025.09.22.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32366-BE41-4541-90DD-CBCDD8AF0E1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73199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6F40E2A6-0837-44AA-B201-694169F92982}" type="datetimeFigureOut">
              <a:rPr lang="hu-HU" smtClean="0"/>
              <a:t>2025.09.22.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632366-BE41-4541-90DD-CBCDD8AF0E1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824821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3" r:id="rId12"/>
    <p:sldLayoutId id="2147483774" r:id="rId13"/>
    <p:sldLayoutId id="2147483775" r:id="rId14"/>
    <p:sldLayoutId id="2147483776" r:id="rId15"/>
    <p:sldLayoutId id="2147483777" r:id="rId16"/>
    <p:sldLayoutId id="214748377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0CC4593-4ABE-46F0-85C3-406A68A75D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1455" y="3080657"/>
            <a:ext cx="8165431" cy="961572"/>
          </a:xfrm>
        </p:spPr>
        <p:txBody>
          <a:bodyPr>
            <a:noAutofit/>
          </a:bodyPr>
          <a:lstStyle/>
          <a:p>
            <a:r>
              <a:rPr lang="hu-HU" dirty="0"/>
              <a:t>Vízesés modell, V-modell</a:t>
            </a:r>
          </a:p>
        </p:txBody>
      </p:sp>
    </p:spTree>
    <p:extLst>
      <p:ext uri="{BB962C8B-B14F-4D97-AF65-F5344CB8AC3E}">
        <p14:creationId xmlns:p14="http://schemas.microsoft.com/office/powerpoint/2010/main" val="3617931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6B3991A-CAAB-499D-B8D8-AC03CE5FA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2473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hu-HU" sz="5400" dirty="0">
                <a:latin typeface="Agency FB" panose="020B0503020202020204" pitchFamily="34" charset="0"/>
              </a:rPr>
              <a:t>Vízesés modell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1353DD0-FC43-4830-ADC2-672AE8A29B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200" y="1106260"/>
            <a:ext cx="4109357" cy="5167312"/>
          </a:xfrm>
        </p:spPr>
        <p:txBody>
          <a:bodyPr>
            <a:normAutofit fontScale="77500" lnSpcReduction="20000"/>
          </a:bodyPr>
          <a:lstStyle/>
          <a:p>
            <a:r>
              <a:rPr lang="hu-HU" sz="5200" b="1" i="1" dirty="0">
                <a:solidFill>
                  <a:schemeClr val="accent2">
                    <a:lumMod val="75000"/>
                  </a:schemeClr>
                </a:solidFill>
                <a:latin typeface="Agency FB" panose="020B0503020202020204" pitchFamily="34" charset="0"/>
              </a:rPr>
              <a:t>Fázisai:</a:t>
            </a:r>
          </a:p>
          <a:p>
            <a:endParaRPr lang="hu-HU" dirty="0">
              <a:latin typeface="Agency FB" panose="020B0503020202020204" pitchFamily="34" charset="0"/>
            </a:endParaRPr>
          </a:p>
          <a:p>
            <a:r>
              <a:rPr lang="hu-HU" sz="3600" dirty="0">
                <a:latin typeface="Agency FB" panose="020B0503020202020204" pitchFamily="34" charset="0"/>
              </a:rPr>
              <a:t>Követelmények gyűjtése</a:t>
            </a:r>
          </a:p>
          <a:p>
            <a:endParaRPr lang="hu-HU" sz="3600" dirty="0">
              <a:latin typeface="Agency FB" panose="020B0503020202020204" pitchFamily="34" charset="0"/>
            </a:endParaRPr>
          </a:p>
          <a:p>
            <a:r>
              <a:rPr lang="hu-HU" sz="3600" dirty="0">
                <a:latin typeface="Agency FB" panose="020B0503020202020204" pitchFamily="34" charset="0"/>
              </a:rPr>
              <a:t>Rendszertervezés</a:t>
            </a:r>
          </a:p>
          <a:p>
            <a:endParaRPr lang="hu-HU" sz="3600" dirty="0">
              <a:latin typeface="Agency FB" panose="020B0503020202020204" pitchFamily="34" charset="0"/>
            </a:endParaRPr>
          </a:p>
          <a:p>
            <a:r>
              <a:rPr lang="hu-HU" sz="3600" dirty="0">
                <a:latin typeface="Agency FB" panose="020B0503020202020204" pitchFamily="34" charset="0"/>
              </a:rPr>
              <a:t>Implementáció</a:t>
            </a:r>
          </a:p>
          <a:p>
            <a:endParaRPr lang="hu-HU" sz="3600" dirty="0">
              <a:latin typeface="Agency FB" panose="020B0503020202020204" pitchFamily="34" charset="0"/>
            </a:endParaRPr>
          </a:p>
          <a:p>
            <a:r>
              <a:rPr lang="hu-HU" sz="3600" dirty="0">
                <a:latin typeface="Agency FB" panose="020B0503020202020204" pitchFamily="34" charset="0"/>
              </a:rPr>
              <a:t>Tesztelés</a:t>
            </a:r>
          </a:p>
          <a:p>
            <a:endParaRPr lang="hu-HU" dirty="0">
              <a:latin typeface="Agency FB" panose="020B0503020202020204" pitchFamily="34" charset="0"/>
            </a:endParaRPr>
          </a:p>
          <a:p>
            <a:r>
              <a:rPr lang="hu-HU" sz="3600" dirty="0">
                <a:latin typeface="Agency FB" panose="020B0503020202020204" pitchFamily="34" charset="0"/>
              </a:rPr>
              <a:t>Üzemeltetés és karbantartás</a:t>
            </a:r>
          </a:p>
        </p:txBody>
      </p:sp>
      <p:sp>
        <p:nvSpPr>
          <p:cNvPr id="61" name="Szövegdoboz 60">
            <a:extLst>
              <a:ext uri="{FF2B5EF4-FFF2-40B4-BE49-F238E27FC236}">
                <a16:creationId xmlns:a16="http://schemas.microsoft.com/office/drawing/2014/main" id="{8442E296-E964-4E77-BE0E-A3907670BFA6}"/>
              </a:ext>
            </a:extLst>
          </p:cNvPr>
          <p:cNvSpPr txBox="1"/>
          <p:nvPr/>
        </p:nvSpPr>
        <p:spPr>
          <a:xfrm>
            <a:off x="3593393" y="2027575"/>
            <a:ext cx="7097285" cy="449353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800" dirty="0">
                <a:solidFill>
                  <a:schemeClr val="accent2">
                    <a:lumMod val="75000"/>
                  </a:schemeClr>
                </a:solidFill>
                <a:latin typeface="Agency FB" panose="020B0503020202020204" pitchFamily="34" charset="0"/>
              </a:rPr>
              <a:t>Mikor érdemes használni a vízesés modellt</a:t>
            </a:r>
            <a:r>
              <a:rPr lang="hu-HU" dirty="0">
                <a:solidFill>
                  <a:schemeClr val="accent2">
                    <a:lumMod val="75000"/>
                  </a:schemeClr>
                </a:solidFill>
                <a:latin typeface="Agency FB" panose="020B0503020202020204" pitchFamily="34" charset="0"/>
              </a:rPr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000" dirty="0">
                <a:latin typeface="Agency FB" panose="020B0503020202020204" pitchFamily="34" charset="0"/>
              </a:rPr>
              <a:t>Ha a projekt előre alaposan megvan tervezve, vagy nem kell folyamatos vissza jelzés az ügyféltől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>
              <a:latin typeface="Agency FB" panose="020B05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800" dirty="0">
                <a:solidFill>
                  <a:schemeClr val="accent2">
                    <a:lumMod val="75000"/>
                  </a:schemeClr>
                </a:solidFill>
                <a:latin typeface="Agency FB" panose="020B0503020202020204" pitchFamily="34" charset="0"/>
              </a:rPr>
              <a:t>Mi az a  víz esés modell?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000" dirty="0">
                <a:latin typeface="Agency FB" panose="020B0503020202020204" pitchFamily="34" charset="0"/>
              </a:rPr>
              <a:t>Legelső módszertanok közé tartozik. Kisebb, könnyebb projektek megvalósításához tökéletes megoldást nyújt.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2000" dirty="0">
              <a:latin typeface="Agency FB" panose="020B05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800" dirty="0">
                <a:solidFill>
                  <a:schemeClr val="accent1">
                    <a:lumMod val="75000"/>
                  </a:schemeClr>
                </a:solidFill>
                <a:latin typeface="Agency FB" panose="020B0503020202020204" pitchFamily="34" charset="0"/>
              </a:rPr>
              <a:t>Hány részből áll a vízesés modell?</a:t>
            </a:r>
            <a:endParaRPr lang="hu-HU" sz="2000" dirty="0">
              <a:latin typeface="Agency FB" panose="020B05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000" dirty="0">
                <a:latin typeface="Agency FB" panose="020B0503020202020204" pitchFamily="34" charset="0"/>
              </a:rPr>
              <a:t>A klasszikus vízesés modell szerinti projekt életciklus öt részből áll: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2800" dirty="0">
              <a:latin typeface="Agency FB" panose="020B05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629409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soportba foglalás 2">
            <a:extLst>
              <a:ext uri="{FF2B5EF4-FFF2-40B4-BE49-F238E27FC236}">
                <a16:creationId xmlns:a16="http://schemas.microsoft.com/office/drawing/2014/main" id="{D21AD427-7891-48D3-9662-5C43DF6E1A32}"/>
              </a:ext>
            </a:extLst>
          </p:cNvPr>
          <p:cNvGrpSpPr/>
          <p:nvPr/>
        </p:nvGrpSpPr>
        <p:grpSpPr>
          <a:xfrm>
            <a:off x="522513" y="-217714"/>
            <a:ext cx="11524343" cy="7075714"/>
            <a:chOff x="922278" y="-29078"/>
            <a:chExt cx="10347444" cy="6887078"/>
          </a:xfrm>
        </p:grpSpPr>
        <p:pic>
          <p:nvPicPr>
            <p:cNvPr id="1026" name="Picture 2" descr="PVC matrica tapéta 70x100 cm Vízesés modell 43 - eMAG.hu">
              <a:extLst>
                <a:ext uri="{FF2B5EF4-FFF2-40B4-BE49-F238E27FC236}">
                  <a16:creationId xmlns:a16="http://schemas.microsoft.com/office/drawing/2014/main" id="{1232873F-7E53-4A01-8E37-9662A252378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398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699" b="16743"/>
            <a:stretch/>
          </p:blipFill>
          <p:spPr bwMode="auto">
            <a:xfrm>
              <a:off x="922278" y="-29078"/>
              <a:ext cx="10347444" cy="68870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Nyíl: kanyarodó 5">
              <a:extLst>
                <a:ext uri="{FF2B5EF4-FFF2-40B4-BE49-F238E27FC236}">
                  <a16:creationId xmlns:a16="http://schemas.microsoft.com/office/drawing/2014/main" id="{B08BD92A-BF80-4880-804E-644686965E8A}"/>
                </a:ext>
              </a:extLst>
            </p:cNvPr>
            <p:cNvSpPr/>
            <p:nvPr/>
          </p:nvSpPr>
          <p:spPr>
            <a:xfrm rot="16200000" flipH="1">
              <a:off x="7208386" y="3385709"/>
              <a:ext cx="464716" cy="465192"/>
            </a:xfrm>
            <a:prstGeom prst="bentArrow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solidFill>
                  <a:schemeClr val="tx1"/>
                </a:solidFill>
              </a:endParaRPr>
            </a:p>
          </p:txBody>
        </p:sp>
        <p:sp>
          <p:nvSpPr>
            <p:cNvPr id="4" name="Nyíl: kanyarodó 3">
              <a:extLst>
                <a:ext uri="{FF2B5EF4-FFF2-40B4-BE49-F238E27FC236}">
                  <a16:creationId xmlns:a16="http://schemas.microsoft.com/office/drawing/2014/main" id="{0862789E-20F3-4617-ACFD-5BF3AA60BFDD}"/>
                </a:ext>
              </a:extLst>
            </p:cNvPr>
            <p:cNvSpPr/>
            <p:nvPr/>
          </p:nvSpPr>
          <p:spPr>
            <a:xfrm rot="16200000" flipH="1">
              <a:off x="6372149" y="3849733"/>
              <a:ext cx="478168" cy="480028"/>
            </a:xfrm>
            <a:prstGeom prst="bentArrow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solidFill>
                  <a:schemeClr val="tx1"/>
                </a:solidFill>
              </a:endParaRPr>
            </a:p>
          </p:txBody>
        </p:sp>
        <p:sp>
          <p:nvSpPr>
            <p:cNvPr id="5" name="Nyíl: kanyarodó 4">
              <a:extLst>
                <a:ext uri="{FF2B5EF4-FFF2-40B4-BE49-F238E27FC236}">
                  <a16:creationId xmlns:a16="http://schemas.microsoft.com/office/drawing/2014/main" id="{78348207-148B-4807-9035-0B1BBF9E5757}"/>
                </a:ext>
              </a:extLst>
            </p:cNvPr>
            <p:cNvSpPr/>
            <p:nvPr/>
          </p:nvSpPr>
          <p:spPr>
            <a:xfrm rot="16200000" flipH="1">
              <a:off x="5516531" y="4327873"/>
              <a:ext cx="493012" cy="494928"/>
            </a:xfrm>
            <a:prstGeom prst="bentArrow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solidFill>
                  <a:schemeClr val="tx1"/>
                </a:solidFill>
              </a:endParaRPr>
            </a:p>
          </p:txBody>
        </p:sp>
        <p:sp>
          <p:nvSpPr>
            <p:cNvPr id="7" name="Nyíl: kanyarodó 6">
              <a:extLst>
                <a:ext uri="{FF2B5EF4-FFF2-40B4-BE49-F238E27FC236}">
                  <a16:creationId xmlns:a16="http://schemas.microsoft.com/office/drawing/2014/main" id="{D6B2535B-A48E-40E0-B39E-963BB6A29960}"/>
                </a:ext>
              </a:extLst>
            </p:cNvPr>
            <p:cNvSpPr/>
            <p:nvPr/>
          </p:nvSpPr>
          <p:spPr>
            <a:xfrm rot="16200000" flipH="1">
              <a:off x="4634150" y="4710573"/>
              <a:ext cx="495282" cy="687320"/>
            </a:xfrm>
            <a:prstGeom prst="bentArrow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>
                <a:solidFill>
                  <a:schemeClr val="tx1"/>
                </a:solidFill>
              </a:endParaRPr>
            </a:p>
          </p:txBody>
        </p:sp>
        <p:sp>
          <p:nvSpPr>
            <p:cNvPr id="2" name="Szövegdoboz 1">
              <a:extLst>
                <a:ext uri="{FF2B5EF4-FFF2-40B4-BE49-F238E27FC236}">
                  <a16:creationId xmlns:a16="http://schemas.microsoft.com/office/drawing/2014/main" id="{14F4A8B0-B454-4F01-99AB-9D6FA4DE3B2A}"/>
                </a:ext>
              </a:extLst>
            </p:cNvPr>
            <p:cNvSpPr txBox="1"/>
            <p:nvPr/>
          </p:nvSpPr>
          <p:spPr>
            <a:xfrm>
              <a:off x="7673340" y="3338738"/>
              <a:ext cx="1366589" cy="30777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hu-HU" sz="1400" dirty="0"/>
                <a:t>Követelmények</a:t>
              </a:r>
            </a:p>
          </p:txBody>
        </p:sp>
        <p:sp>
          <p:nvSpPr>
            <p:cNvPr id="9" name="Szövegdoboz 8">
              <a:extLst>
                <a:ext uri="{FF2B5EF4-FFF2-40B4-BE49-F238E27FC236}">
                  <a16:creationId xmlns:a16="http://schemas.microsoft.com/office/drawing/2014/main" id="{78C17298-930D-42AE-B26C-F01FC2E4D5B6}"/>
                </a:ext>
              </a:extLst>
            </p:cNvPr>
            <p:cNvSpPr txBox="1"/>
            <p:nvPr/>
          </p:nvSpPr>
          <p:spPr>
            <a:xfrm>
              <a:off x="6853352" y="3853226"/>
              <a:ext cx="819988" cy="30777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hu-HU" sz="1400" dirty="0"/>
                <a:t>Tervezés</a:t>
              </a:r>
            </a:p>
          </p:txBody>
        </p:sp>
        <p:sp>
          <p:nvSpPr>
            <p:cNvPr id="10" name="Szövegdoboz 9">
              <a:extLst>
                <a:ext uri="{FF2B5EF4-FFF2-40B4-BE49-F238E27FC236}">
                  <a16:creationId xmlns:a16="http://schemas.microsoft.com/office/drawing/2014/main" id="{AD0DF8F0-A948-413E-A435-4859A768C082}"/>
                </a:ext>
              </a:extLst>
            </p:cNvPr>
            <p:cNvSpPr txBox="1"/>
            <p:nvPr/>
          </p:nvSpPr>
          <p:spPr>
            <a:xfrm>
              <a:off x="6010501" y="4328830"/>
              <a:ext cx="1164337" cy="30777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hu-HU" sz="1400" dirty="0"/>
                <a:t>Megvalósítás</a:t>
              </a:r>
            </a:p>
          </p:txBody>
        </p:sp>
        <p:sp>
          <p:nvSpPr>
            <p:cNvPr id="12" name="Szövegdoboz 11">
              <a:extLst>
                <a:ext uri="{FF2B5EF4-FFF2-40B4-BE49-F238E27FC236}">
                  <a16:creationId xmlns:a16="http://schemas.microsoft.com/office/drawing/2014/main" id="{B815191C-7BDF-4A24-936A-EF2EC7813484}"/>
                </a:ext>
              </a:extLst>
            </p:cNvPr>
            <p:cNvSpPr txBox="1"/>
            <p:nvPr/>
          </p:nvSpPr>
          <p:spPr>
            <a:xfrm>
              <a:off x="5180868" y="4806592"/>
              <a:ext cx="1164337" cy="30777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hu-HU" sz="1400" dirty="0"/>
                <a:t>Tesztelés</a:t>
              </a:r>
            </a:p>
          </p:txBody>
        </p:sp>
        <p:sp>
          <p:nvSpPr>
            <p:cNvPr id="13" name="Szövegdoboz 12">
              <a:extLst>
                <a:ext uri="{FF2B5EF4-FFF2-40B4-BE49-F238E27FC236}">
                  <a16:creationId xmlns:a16="http://schemas.microsoft.com/office/drawing/2014/main" id="{EF12950A-8CC0-4FF2-8E4B-225A2BA9E12D}"/>
                </a:ext>
              </a:extLst>
            </p:cNvPr>
            <p:cNvSpPr txBox="1"/>
            <p:nvPr/>
          </p:nvSpPr>
          <p:spPr>
            <a:xfrm>
              <a:off x="4061114" y="5341273"/>
              <a:ext cx="1164337" cy="73866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hu-HU" sz="1400" dirty="0"/>
                <a:t>Üzemeltetés és Karbantartás</a:t>
              </a:r>
            </a:p>
          </p:txBody>
        </p:sp>
      </p:grpSp>
      <p:sp>
        <p:nvSpPr>
          <p:cNvPr id="14" name="Nyíl: kanyarodó 13">
            <a:extLst>
              <a:ext uri="{FF2B5EF4-FFF2-40B4-BE49-F238E27FC236}">
                <a16:creationId xmlns:a16="http://schemas.microsoft.com/office/drawing/2014/main" id="{40922FB1-2924-4F21-BE6E-6E0071503A34}"/>
              </a:ext>
            </a:extLst>
          </p:cNvPr>
          <p:cNvSpPr/>
          <p:nvPr/>
        </p:nvSpPr>
        <p:spPr>
          <a:xfrm rot="5400000" flipH="1">
            <a:off x="5465433" y="4938341"/>
            <a:ext cx="508635" cy="765175"/>
          </a:xfrm>
          <a:prstGeom prst="bentArrow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hu-HU"/>
          </a:p>
        </p:txBody>
      </p:sp>
      <p:sp>
        <p:nvSpPr>
          <p:cNvPr id="15" name="Nyíl: kanyarodó 14">
            <a:extLst>
              <a:ext uri="{FF2B5EF4-FFF2-40B4-BE49-F238E27FC236}">
                <a16:creationId xmlns:a16="http://schemas.microsoft.com/office/drawing/2014/main" id="{05C3F8CD-8E84-4756-A1CF-8ED23E193C1A}"/>
              </a:ext>
            </a:extLst>
          </p:cNvPr>
          <p:cNvSpPr/>
          <p:nvPr/>
        </p:nvSpPr>
        <p:spPr>
          <a:xfrm rot="5400000" flipH="1">
            <a:off x="6584620" y="4537974"/>
            <a:ext cx="506095" cy="551180"/>
          </a:xfrm>
          <a:prstGeom prst="bentArrow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hu-HU"/>
          </a:p>
        </p:txBody>
      </p:sp>
      <p:sp>
        <p:nvSpPr>
          <p:cNvPr id="16" name="Nyíl: kanyarodó 15">
            <a:extLst>
              <a:ext uri="{FF2B5EF4-FFF2-40B4-BE49-F238E27FC236}">
                <a16:creationId xmlns:a16="http://schemas.microsoft.com/office/drawing/2014/main" id="{87BB207A-30E9-41C9-A5BA-27F7C2084D06}"/>
              </a:ext>
            </a:extLst>
          </p:cNvPr>
          <p:cNvSpPr/>
          <p:nvPr/>
        </p:nvSpPr>
        <p:spPr>
          <a:xfrm rot="5400000" flipH="1">
            <a:off x="7506640" y="4045849"/>
            <a:ext cx="506095" cy="551180"/>
          </a:xfrm>
          <a:prstGeom prst="bentArrow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hu-HU"/>
          </a:p>
        </p:txBody>
      </p:sp>
      <p:sp>
        <p:nvSpPr>
          <p:cNvPr id="17" name="Nyíl: kanyarodó 16">
            <a:extLst>
              <a:ext uri="{FF2B5EF4-FFF2-40B4-BE49-F238E27FC236}">
                <a16:creationId xmlns:a16="http://schemas.microsoft.com/office/drawing/2014/main" id="{5422E17B-CA73-4832-8C42-7943E003CEBE}"/>
              </a:ext>
            </a:extLst>
          </p:cNvPr>
          <p:cNvSpPr/>
          <p:nvPr/>
        </p:nvSpPr>
        <p:spPr>
          <a:xfrm rot="5400000" flipH="1">
            <a:off x="8059725" y="3525784"/>
            <a:ext cx="506095" cy="551180"/>
          </a:xfrm>
          <a:prstGeom prst="bentArrow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83281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AF4751F-BC8D-4D4A-9992-14EFEC36E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u-HU" sz="9600" dirty="0">
                <a:latin typeface="Agency FB" panose="020B0503020202020204" pitchFamily="34" charset="0"/>
              </a:rPr>
              <a:t>V-MODELL</a:t>
            </a:r>
            <a:endParaRPr lang="hu-HU" sz="9600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EB91361-E675-4E26-A60F-A97118A59F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hu-HU" sz="4100" i="1">
                <a:solidFill>
                  <a:schemeClr val="accent2">
                    <a:lumMod val="75000"/>
                  </a:schemeClr>
                </a:solidFill>
              </a:rPr>
              <a:t>Mi az a </a:t>
            </a:r>
            <a:r>
              <a:rPr lang="hu-HU" sz="4100" i="1" dirty="0">
                <a:solidFill>
                  <a:schemeClr val="accent2">
                    <a:lumMod val="75000"/>
                  </a:schemeClr>
                </a:solidFill>
              </a:rPr>
              <a:t>V modell?</a:t>
            </a:r>
          </a:p>
          <a:p>
            <a:pPr>
              <a:spcAft>
                <a:spcPts val="1200"/>
              </a:spcAft>
            </a:pPr>
            <a:r>
              <a:rPr lang="hu-HU" sz="2900" dirty="0"/>
              <a:t>A V-modell a vízesés modell kiegészítése teszteléssel.</a:t>
            </a:r>
          </a:p>
          <a:p>
            <a:pPr>
              <a:spcAft>
                <a:spcPts val="1200"/>
              </a:spcAft>
            </a:pPr>
            <a:r>
              <a:rPr lang="hu-HU" sz="4100" i="1" dirty="0">
                <a:solidFill>
                  <a:schemeClr val="accent2">
                    <a:lumMod val="75000"/>
                  </a:schemeClr>
                </a:solidFill>
              </a:rPr>
              <a:t>Mivel kezd a V modell a vízesés modellel ellentétben?</a:t>
            </a:r>
          </a:p>
          <a:p>
            <a:pPr>
              <a:spcAft>
                <a:spcPts val="1200"/>
              </a:spcAft>
            </a:pPr>
            <a:r>
              <a:rPr lang="hu-HU" sz="2900" dirty="0"/>
              <a:t>Először végre kell hajtani a fejlesztés lépéseit, majd a tesztelés lépései.</a:t>
            </a:r>
          </a:p>
          <a:p>
            <a:pPr>
              <a:spcAft>
                <a:spcPts val="1200"/>
              </a:spcAft>
            </a:pPr>
            <a:r>
              <a:rPr lang="hu-HU" sz="4100" i="1" dirty="0">
                <a:solidFill>
                  <a:schemeClr val="accent2">
                    <a:lumMod val="75000"/>
                  </a:schemeClr>
                </a:solidFill>
              </a:rPr>
              <a:t>Hiba esetén mi a teendő?</a:t>
            </a:r>
          </a:p>
          <a:p>
            <a:pPr>
              <a:spcAft>
                <a:spcPts val="1200"/>
              </a:spcAft>
            </a:pPr>
            <a:r>
              <a:rPr lang="hu-HU" sz="2900" dirty="0"/>
              <a:t>Ha valamelyik teszt hibát talál, akkor vissza kell menni a megfelelő fejlesztési lépésre.</a:t>
            </a:r>
          </a:p>
          <a:p>
            <a:pPr>
              <a:spcAft>
                <a:spcPts val="1200"/>
              </a:spcAft>
            </a:pPr>
            <a:r>
              <a:rPr lang="hu-HU" sz="3800" i="1" dirty="0">
                <a:solidFill>
                  <a:schemeClr val="accent2">
                    <a:lumMod val="75000"/>
                  </a:schemeClr>
                </a:solidFill>
              </a:rPr>
              <a:t>Rugalmasabb-e a V modell?</a:t>
            </a:r>
          </a:p>
          <a:p>
            <a:pPr>
              <a:spcAft>
                <a:spcPts val="1200"/>
              </a:spcAft>
            </a:pPr>
            <a:r>
              <a:rPr lang="hu-HU" sz="2900" dirty="0"/>
              <a:t>Kevésbé merev, mint a vízeséses modell.</a:t>
            </a:r>
          </a:p>
        </p:txBody>
      </p:sp>
    </p:spTree>
    <p:extLst>
      <p:ext uri="{BB962C8B-B14F-4D97-AF65-F5344CB8AC3E}">
        <p14:creationId xmlns:p14="http://schemas.microsoft.com/office/powerpoint/2010/main" val="2957963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Csoportba foglalás 48">
            <a:extLst>
              <a:ext uri="{FF2B5EF4-FFF2-40B4-BE49-F238E27FC236}">
                <a16:creationId xmlns:a16="http://schemas.microsoft.com/office/drawing/2014/main" id="{ACCEEE63-811F-4644-9D94-4A24B261C6DE}"/>
              </a:ext>
            </a:extLst>
          </p:cNvPr>
          <p:cNvGrpSpPr/>
          <p:nvPr/>
        </p:nvGrpSpPr>
        <p:grpSpPr>
          <a:xfrm>
            <a:off x="2244589" y="475358"/>
            <a:ext cx="6828333" cy="6255574"/>
            <a:chOff x="2768828" y="336120"/>
            <a:chExt cx="6828333" cy="6255574"/>
          </a:xfrm>
        </p:grpSpPr>
        <p:sp>
          <p:nvSpPr>
            <p:cNvPr id="9" name="Trapezoid 8">
              <a:extLst>
                <a:ext uri="{FF2B5EF4-FFF2-40B4-BE49-F238E27FC236}">
                  <a16:creationId xmlns:a16="http://schemas.microsoft.com/office/drawing/2014/main" id="{A1AB7E7E-E136-4DC0-AC72-9C0BFF412BAA}"/>
                </a:ext>
              </a:extLst>
            </p:cNvPr>
            <p:cNvSpPr/>
            <p:nvPr/>
          </p:nvSpPr>
          <p:spPr>
            <a:xfrm rot="10800000">
              <a:off x="4525555" y="5786845"/>
              <a:ext cx="3140876" cy="804849"/>
            </a:xfrm>
            <a:prstGeom prst="trapezoid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" name="Romboid 9">
              <a:extLst>
                <a:ext uri="{FF2B5EF4-FFF2-40B4-BE49-F238E27FC236}">
                  <a16:creationId xmlns:a16="http://schemas.microsoft.com/office/drawing/2014/main" id="{21E93D25-8912-441A-A0F2-E36DD9BABBBD}"/>
                </a:ext>
              </a:extLst>
            </p:cNvPr>
            <p:cNvSpPr/>
            <p:nvPr/>
          </p:nvSpPr>
          <p:spPr>
            <a:xfrm>
              <a:off x="7332716" y="336120"/>
              <a:ext cx="1747113" cy="1239991"/>
            </a:xfrm>
            <a:prstGeom prst="parallelogram">
              <a:avLst/>
            </a:prstGeom>
            <a:solidFill>
              <a:schemeClr val="accent4"/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" name="Romboid 10">
              <a:extLst>
                <a:ext uri="{FF2B5EF4-FFF2-40B4-BE49-F238E27FC236}">
                  <a16:creationId xmlns:a16="http://schemas.microsoft.com/office/drawing/2014/main" id="{1AA02895-F0D4-4289-B545-B43993993E33}"/>
                </a:ext>
              </a:extLst>
            </p:cNvPr>
            <p:cNvSpPr/>
            <p:nvPr/>
          </p:nvSpPr>
          <p:spPr>
            <a:xfrm>
              <a:off x="6991133" y="1698757"/>
              <a:ext cx="1747113" cy="1239991"/>
            </a:xfrm>
            <a:prstGeom prst="parallelogram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2" name="Romboid 11">
              <a:extLst>
                <a:ext uri="{FF2B5EF4-FFF2-40B4-BE49-F238E27FC236}">
                  <a16:creationId xmlns:a16="http://schemas.microsoft.com/office/drawing/2014/main" id="{FCDE0DB0-4278-434E-812F-7CCB53C6094F}"/>
                </a:ext>
              </a:extLst>
            </p:cNvPr>
            <p:cNvSpPr/>
            <p:nvPr/>
          </p:nvSpPr>
          <p:spPr>
            <a:xfrm>
              <a:off x="6626017" y="3061483"/>
              <a:ext cx="1747113" cy="1239991"/>
            </a:xfrm>
            <a:prstGeom prst="parallelogram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3" name="Romboid 12">
              <a:extLst>
                <a:ext uri="{FF2B5EF4-FFF2-40B4-BE49-F238E27FC236}">
                  <a16:creationId xmlns:a16="http://schemas.microsoft.com/office/drawing/2014/main" id="{A437E802-97BE-45B3-A6E9-8FF72255AC56}"/>
                </a:ext>
              </a:extLst>
            </p:cNvPr>
            <p:cNvSpPr/>
            <p:nvPr/>
          </p:nvSpPr>
          <p:spPr>
            <a:xfrm>
              <a:off x="6262853" y="4424164"/>
              <a:ext cx="1747113" cy="1239991"/>
            </a:xfrm>
            <a:prstGeom prst="parallelogram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8" name="Romboid 17">
              <a:extLst>
                <a:ext uri="{FF2B5EF4-FFF2-40B4-BE49-F238E27FC236}">
                  <a16:creationId xmlns:a16="http://schemas.microsoft.com/office/drawing/2014/main" id="{CF3F304B-03BD-48C6-B3B4-4387603017CE}"/>
                </a:ext>
              </a:extLst>
            </p:cNvPr>
            <p:cNvSpPr/>
            <p:nvPr/>
          </p:nvSpPr>
          <p:spPr>
            <a:xfrm flipV="1">
              <a:off x="3112163" y="336120"/>
              <a:ext cx="1747113" cy="1239991"/>
            </a:xfrm>
            <a:prstGeom prst="parallelogram">
              <a:avLst/>
            </a:prstGeom>
            <a:solidFill>
              <a:schemeClr val="accent4"/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23" name="Romboid 22">
              <a:extLst>
                <a:ext uri="{FF2B5EF4-FFF2-40B4-BE49-F238E27FC236}">
                  <a16:creationId xmlns:a16="http://schemas.microsoft.com/office/drawing/2014/main" id="{EC241CAD-3FDF-4290-A2EA-BE0189CECAC6}"/>
                </a:ext>
              </a:extLst>
            </p:cNvPr>
            <p:cNvSpPr/>
            <p:nvPr/>
          </p:nvSpPr>
          <p:spPr>
            <a:xfrm flipV="1">
              <a:off x="4191838" y="4424164"/>
              <a:ext cx="1747113" cy="1239991"/>
            </a:xfrm>
            <a:prstGeom prst="parallelogram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4" name="Romboid 23">
              <a:extLst>
                <a:ext uri="{FF2B5EF4-FFF2-40B4-BE49-F238E27FC236}">
                  <a16:creationId xmlns:a16="http://schemas.microsoft.com/office/drawing/2014/main" id="{E6DD5CD9-D803-4497-BFA3-61764C356A32}"/>
                </a:ext>
              </a:extLst>
            </p:cNvPr>
            <p:cNvSpPr/>
            <p:nvPr/>
          </p:nvSpPr>
          <p:spPr>
            <a:xfrm flipV="1">
              <a:off x="3494957" y="1698801"/>
              <a:ext cx="1747113" cy="1239991"/>
            </a:xfrm>
            <a:prstGeom prst="parallelogram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25" name="Romboid 24">
              <a:extLst>
                <a:ext uri="{FF2B5EF4-FFF2-40B4-BE49-F238E27FC236}">
                  <a16:creationId xmlns:a16="http://schemas.microsoft.com/office/drawing/2014/main" id="{841FE437-35AB-48F1-94A7-1FE7121DA69A}"/>
                </a:ext>
              </a:extLst>
            </p:cNvPr>
            <p:cNvSpPr/>
            <p:nvPr/>
          </p:nvSpPr>
          <p:spPr>
            <a:xfrm flipV="1">
              <a:off x="3838490" y="3061481"/>
              <a:ext cx="1747113" cy="1239991"/>
            </a:xfrm>
            <a:prstGeom prst="parallelogram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7" name="Szövegdoboz 26">
              <a:extLst>
                <a:ext uri="{FF2B5EF4-FFF2-40B4-BE49-F238E27FC236}">
                  <a16:creationId xmlns:a16="http://schemas.microsoft.com/office/drawing/2014/main" id="{2CC627F5-91FC-4398-B5F7-4707E16D8983}"/>
                </a:ext>
              </a:extLst>
            </p:cNvPr>
            <p:cNvSpPr txBox="1"/>
            <p:nvPr/>
          </p:nvSpPr>
          <p:spPr>
            <a:xfrm>
              <a:off x="3225169" y="619704"/>
              <a:ext cx="163452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2000" dirty="0">
                  <a:solidFill>
                    <a:schemeClr val="bg1"/>
                  </a:solidFill>
                  <a:latin typeface="Agency FB" panose="020B0503020202020204" pitchFamily="34" charset="0"/>
                </a:rPr>
                <a:t>KÖVETELMÉNY SPECIFIKÁCIÓ</a:t>
              </a:r>
            </a:p>
          </p:txBody>
        </p:sp>
        <p:sp>
          <p:nvSpPr>
            <p:cNvPr id="28" name="Szövegdoboz 27">
              <a:extLst>
                <a:ext uri="{FF2B5EF4-FFF2-40B4-BE49-F238E27FC236}">
                  <a16:creationId xmlns:a16="http://schemas.microsoft.com/office/drawing/2014/main" id="{B47613C4-C83E-4802-90DF-BD8E39EF348F}"/>
                </a:ext>
              </a:extLst>
            </p:cNvPr>
            <p:cNvSpPr txBox="1"/>
            <p:nvPr/>
          </p:nvSpPr>
          <p:spPr>
            <a:xfrm>
              <a:off x="3661209" y="2078542"/>
              <a:ext cx="145482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2000" dirty="0">
                  <a:solidFill>
                    <a:schemeClr val="bg1"/>
                  </a:solidFill>
                  <a:latin typeface="Agency FB" panose="020B0503020202020204" pitchFamily="34" charset="0"/>
                </a:rPr>
                <a:t>FUNKCIONÁLIS SPECIFIKÁCIÓ</a:t>
              </a:r>
            </a:p>
          </p:txBody>
        </p:sp>
        <p:sp>
          <p:nvSpPr>
            <p:cNvPr id="29" name="Szövegdoboz 28">
              <a:extLst>
                <a:ext uri="{FF2B5EF4-FFF2-40B4-BE49-F238E27FC236}">
                  <a16:creationId xmlns:a16="http://schemas.microsoft.com/office/drawing/2014/main" id="{B2AD0196-A732-4545-A2B1-AF88F5435BDD}"/>
                </a:ext>
              </a:extLst>
            </p:cNvPr>
            <p:cNvSpPr txBox="1"/>
            <p:nvPr/>
          </p:nvSpPr>
          <p:spPr>
            <a:xfrm>
              <a:off x="3838490" y="3481421"/>
              <a:ext cx="169126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2000" dirty="0">
                  <a:solidFill>
                    <a:schemeClr val="bg1"/>
                  </a:solidFill>
                  <a:latin typeface="Agency FB" panose="020B0503020202020204" pitchFamily="34" charset="0"/>
                </a:rPr>
                <a:t>RENDSZERTERV</a:t>
              </a:r>
            </a:p>
          </p:txBody>
        </p:sp>
        <p:sp>
          <p:nvSpPr>
            <p:cNvPr id="30" name="Szövegdoboz 29">
              <a:extLst>
                <a:ext uri="{FF2B5EF4-FFF2-40B4-BE49-F238E27FC236}">
                  <a16:creationId xmlns:a16="http://schemas.microsoft.com/office/drawing/2014/main" id="{3E90E289-D59C-4800-AE0A-56D745B196FE}"/>
                </a:ext>
              </a:extLst>
            </p:cNvPr>
            <p:cNvSpPr txBox="1"/>
            <p:nvPr/>
          </p:nvSpPr>
          <p:spPr>
            <a:xfrm>
              <a:off x="4169351" y="4839975"/>
              <a:ext cx="179209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2000" dirty="0">
                  <a:solidFill>
                    <a:schemeClr val="bg1"/>
                  </a:solidFill>
                  <a:latin typeface="Agency FB" panose="020B0503020202020204" pitchFamily="34" charset="0"/>
                </a:rPr>
                <a:t>IMPLEMENTÁCIÓ</a:t>
              </a:r>
            </a:p>
          </p:txBody>
        </p:sp>
        <p:sp>
          <p:nvSpPr>
            <p:cNvPr id="32" name="Szövegdoboz 31">
              <a:extLst>
                <a:ext uri="{FF2B5EF4-FFF2-40B4-BE49-F238E27FC236}">
                  <a16:creationId xmlns:a16="http://schemas.microsoft.com/office/drawing/2014/main" id="{703FDF6F-FFB6-4C75-8520-57A5EF7E0A66}"/>
                </a:ext>
              </a:extLst>
            </p:cNvPr>
            <p:cNvSpPr txBox="1"/>
            <p:nvPr/>
          </p:nvSpPr>
          <p:spPr>
            <a:xfrm>
              <a:off x="7416144" y="610227"/>
              <a:ext cx="158025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2000" dirty="0">
                  <a:solidFill>
                    <a:schemeClr val="bg1"/>
                  </a:solidFill>
                  <a:latin typeface="Agency FB" panose="020B0503020202020204" pitchFamily="34" charset="0"/>
                </a:rPr>
                <a:t>FELHASZNÁLÓI ÁTVÉTELI TESZT</a:t>
              </a:r>
            </a:p>
          </p:txBody>
        </p:sp>
        <p:sp>
          <p:nvSpPr>
            <p:cNvPr id="34" name="Szövegdoboz 33">
              <a:extLst>
                <a:ext uri="{FF2B5EF4-FFF2-40B4-BE49-F238E27FC236}">
                  <a16:creationId xmlns:a16="http://schemas.microsoft.com/office/drawing/2014/main" id="{891DF713-8C64-47E2-8F76-F54B54DAE2BE}"/>
                </a:ext>
              </a:extLst>
            </p:cNvPr>
            <p:cNvSpPr txBox="1"/>
            <p:nvPr/>
          </p:nvSpPr>
          <p:spPr>
            <a:xfrm>
              <a:off x="6991134" y="2176087"/>
              <a:ext cx="17471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2000" dirty="0">
                  <a:solidFill>
                    <a:schemeClr val="bg1"/>
                  </a:solidFill>
                  <a:latin typeface="Agency FB" panose="020B0503020202020204" pitchFamily="34" charset="0"/>
                </a:rPr>
                <a:t>RENDSZERTESZT</a:t>
              </a:r>
            </a:p>
          </p:txBody>
        </p:sp>
        <p:sp>
          <p:nvSpPr>
            <p:cNvPr id="35" name="Szövegdoboz 34">
              <a:extLst>
                <a:ext uri="{FF2B5EF4-FFF2-40B4-BE49-F238E27FC236}">
                  <a16:creationId xmlns:a16="http://schemas.microsoft.com/office/drawing/2014/main" id="{D19F56A3-E876-4713-A9B9-D7CA46FFF9B7}"/>
                </a:ext>
              </a:extLst>
            </p:cNvPr>
            <p:cNvSpPr txBox="1"/>
            <p:nvPr/>
          </p:nvSpPr>
          <p:spPr>
            <a:xfrm>
              <a:off x="6701147" y="3396727"/>
              <a:ext cx="159685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2000" dirty="0">
                  <a:solidFill>
                    <a:schemeClr val="bg1"/>
                  </a:solidFill>
                  <a:latin typeface="Agency FB" panose="020B0503020202020204" pitchFamily="34" charset="0"/>
                </a:rPr>
                <a:t>INTEGRÁCIÓS TESZT</a:t>
              </a:r>
            </a:p>
          </p:txBody>
        </p:sp>
        <p:sp>
          <p:nvSpPr>
            <p:cNvPr id="36" name="Szövegdoboz 35">
              <a:extLst>
                <a:ext uri="{FF2B5EF4-FFF2-40B4-BE49-F238E27FC236}">
                  <a16:creationId xmlns:a16="http://schemas.microsoft.com/office/drawing/2014/main" id="{79224E61-8EB7-4A13-93CA-B86D3A35D8BC}"/>
                </a:ext>
              </a:extLst>
            </p:cNvPr>
            <p:cNvSpPr txBox="1"/>
            <p:nvPr/>
          </p:nvSpPr>
          <p:spPr>
            <a:xfrm>
              <a:off x="6326383" y="4839975"/>
              <a:ext cx="16200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2000" dirty="0">
                  <a:solidFill>
                    <a:schemeClr val="bg1"/>
                  </a:solidFill>
                  <a:latin typeface="Agency FB" panose="020B0503020202020204" pitchFamily="34" charset="0"/>
                </a:rPr>
                <a:t>KOMPENENSTESZT</a:t>
              </a:r>
            </a:p>
          </p:txBody>
        </p:sp>
        <p:sp>
          <p:nvSpPr>
            <p:cNvPr id="37" name="Nyíl: lefelé mutató 36">
              <a:extLst>
                <a:ext uri="{FF2B5EF4-FFF2-40B4-BE49-F238E27FC236}">
                  <a16:creationId xmlns:a16="http://schemas.microsoft.com/office/drawing/2014/main" id="{85AFCC0F-C47D-4866-8703-034B8DDA2310}"/>
                </a:ext>
              </a:extLst>
            </p:cNvPr>
            <p:cNvSpPr/>
            <p:nvPr/>
          </p:nvSpPr>
          <p:spPr>
            <a:xfrm rot="20725541">
              <a:off x="2768828" y="1243612"/>
              <a:ext cx="724796" cy="4123055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" name="Nyíl: lefelé mutató 37">
              <a:extLst>
                <a:ext uri="{FF2B5EF4-FFF2-40B4-BE49-F238E27FC236}">
                  <a16:creationId xmlns:a16="http://schemas.microsoft.com/office/drawing/2014/main" id="{B86AF009-FFD0-4C28-A5AB-EC2123801B1B}"/>
                </a:ext>
              </a:extLst>
            </p:cNvPr>
            <p:cNvSpPr/>
            <p:nvPr/>
          </p:nvSpPr>
          <p:spPr>
            <a:xfrm rot="11741785">
              <a:off x="8872365" y="1247303"/>
              <a:ext cx="724796" cy="4123055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4" name="Nyíl: balra-jobbra mutató 43">
              <a:extLst>
                <a:ext uri="{FF2B5EF4-FFF2-40B4-BE49-F238E27FC236}">
                  <a16:creationId xmlns:a16="http://schemas.microsoft.com/office/drawing/2014/main" id="{EFB1CC82-BA87-4589-BBE0-0A8238E03899}"/>
                </a:ext>
              </a:extLst>
            </p:cNvPr>
            <p:cNvSpPr/>
            <p:nvPr/>
          </p:nvSpPr>
          <p:spPr>
            <a:xfrm>
              <a:off x="5275124" y="2528816"/>
              <a:ext cx="1641744" cy="331838"/>
            </a:xfrm>
            <a:prstGeom prst="left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5" name="Szövegdoboz 44">
              <a:extLst>
                <a:ext uri="{FF2B5EF4-FFF2-40B4-BE49-F238E27FC236}">
                  <a16:creationId xmlns:a16="http://schemas.microsoft.com/office/drawing/2014/main" id="{DE75CAF9-3049-45A7-B546-5177ADD82705}"/>
                </a:ext>
              </a:extLst>
            </p:cNvPr>
            <p:cNvSpPr txBox="1"/>
            <p:nvPr/>
          </p:nvSpPr>
          <p:spPr>
            <a:xfrm rot="4500980">
              <a:off x="2625469" y="2712782"/>
              <a:ext cx="173898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400" dirty="0">
                  <a:latin typeface="Agency FB" panose="020B0503020202020204" pitchFamily="34" charset="0"/>
                </a:rPr>
                <a:t>FEJLESZTÉS</a:t>
              </a:r>
            </a:p>
          </p:txBody>
        </p:sp>
        <p:sp>
          <p:nvSpPr>
            <p:cNvPr id="46" name="Szövegdoboz 45">
              <a:extLst>
                <a:ext uri="{FF2B5EF4-FFF2-40B4-BE49-F238E27FC236}">
                  <a16:creationId xmlns:a16="http://schemas.microsoft.com/office/drawing/2014/main" id="{15A1357B-D613-48F4-A57C-7800B7FE3033}"/>
                </a:ext>
              </a:extLst>
            </p:cNvPr>
            <p:cNvSpPr txBox="1"/>
            <p:nvPr/>
          </p:nvSpPr>
          <p:spPr>
            <a:xfrm rot="17153469">
              <a:off x="7982095" y="2625462"/>
              <a:ext cx="18132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400" dirty="0">
                  <a:latin typeface="Agency FB" panose="020B0503020202020204" pitchFamily="34" charset="0"/>
                </a:rPr>
                <a:t>TESZTELÉS</a:t>
              </a:r>
            </a:p>
          </p:txBody>
        </p:sp>
      </p:grpSp>
      <p:sp>
        <p:nvSpPr>
          <p:cNvPr id="50" name="Szövegdoboz 49">
            <a:extLst>
              <a:ext uri="{FF2B5EF4-FFF2-40B4-BE49-F238E27FC236}">
                <a16:creationId xmlns:a16="http://schemas.microsoft.com/office/drawing/2014/main" id="{AE5A7068-A197-4B20-A5A5-9740493EEB6F}"/>
              </a:ext>
            </a:extLst>
          </p:cNvPr>
          <p:cNvSpPr txBox="1"/>
          <p:nvPr/>
        </p:nvSpPr>
        <p:spPr>
          <a:xfrm>
            <a:off x="247419" y="5530603"/>
            <a:ext cx="35080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7200" dirty="0">
                <a:latin typeface="Agency FB" panose="020B0503020202020204" pitchFamily="34" charset="0"/>
              </a:rPr>
              <a:t>V-MODELL</a:t>
            </a:r>
          </a:p>
        </p:txBody>
      </p:sp>
    </p:spTree>
    <p:extLst>
      <p:ext uri="{BB962C8B-B14F-4D97-AF65-F5344CB8AC3E}">
        <p14:creationId xmlns:p14="http://schemas.microsoft.com/office/powerpoint/2010/main" val="3515076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E81F37F-9600-4403-9E6E-F5C631C27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hu-HU" sz="6600" dirty="0"/>
              <a:t>Összefoglaló</a:t>
            </a:r>
          </a:p>
        </p:txBody>
      </p:sp>
      <p:graphicFrame>
        <p:nvGraphicFramePr>
          <p:cNvPr id="4" name="Tartalom helye 3">
            <a:extLst>
              <a:ext uri="{FF2B5EF4-FFF2-40B4-BE49-F238E27FC236}">
                <a16:creationId xmlns:a16="http://schemas.microsoft.com/office/drawing/2014/main" id="{AC269EC9-6D68-4089-B17C-20CE130948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3802253"/>
              </p:ext>
            </p:extLst>
          </p:nvPr>
        </p:nvGraphicFramePr>
        <p:xfrm>
          <a:off x="677334" y="2191657"/>
          <a:ext cx="9448851" cy="3605654"/>
        </p:xfrm>
        <a:graphic>
          <a:graphicData uri="http://schemas.openxmlformats.org/drawingml/2006/table">
            <a:tbl>
              <a:tblPr/>
              <a:tblGrid>
                <a:gridCol w="2736553">
                  <a:extLst>
                    <a:ext uri="{9D8B030D-6E8A-4147-A177-3AD203B41FA5}">
                      <a16:colId xmlns:a16="http://schemas.microsoft.com/office/drawing/2014/main" val="1394092898"/>
                    </a:ext>
                  </a:extLst>
                </a:gridCol>
                <a:gridCol w="3356149">
                  <a:extLst>
                    <a:ext uri="{9D8B030D-6E8A-4147-A177-3AD203B41FA5}">
                      <a16:colId xmlns:a16="http://schemas.microsoft.com/office/drawing/2014/main" val="3745461802"/>
                    </a:ext>
                  </a:extLst>
                </a:gridCol>
                <a:gridCol w="3356149">
                  <a:extLst>
                    <a:ext uri="{9D8B030D-6E8A-4147-A177-3AD203B41FA5}">
                      <a16:colId xmlns:a16="http://schemas.microsoft.com/office/drawing/2014/main" val="4178977043"/>
                    </a:ext>
                  </a:extLst>
                </a:gridCol>
              </a:tblGrid>
              <a:tr h="601771">
                <a:tc>
                  <a:txBody>
                    <a:bodyPr/>
                    <a:lstStyle/>
                    <a:p>
                      <a:pPr algn="l"/>
                      <a:r>
                        <a:rPr lang="hu-HU" sz="2100" b="1" dirty="0">
                          <a:effectLst/>
                          <a:latin typeface="quote-cjk-patch"/>
                        </a:rPr>
                        <a:t>Szempont</a:t>
                      </a:r>
                      <a:endParaRPr lang="hu-HU" sz="2100" b="0" dirty="0">
                        <a:effectLst/>
                        <a:latin typeface="quote-cjk-patch"/>
                      </a:endParaRPr>
                    </a:p>
                  </a:txBody>
                  <a:tcPr marL="108195" marR="180326" marT="112704" marB="1127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hu-HU" sz="2100" b="1" dirty="0">
                          <a:effectLst/>
                          <a:latin typeface="quote-cjk-patch"/>
                        </a:rPr>
                        <a:t>Vízesés Modell</a:t>
                      </a:r>
                      <a:endParaRPr lang="hu-HU" sz="2100" b="0" dirty="0">
                        <a:effectLst/>
                        <a:latin typeface="quote-cjk-patch"/>
                      </a:endParaRPr>
                    </a:p>
                  </a:txBody>
                  <a:tcPr marL="180326" marR="180326" marT="112704" marB="1127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hu-HU" sz="2100" b="1" dirty="0">
                          <a:effectLst/>
                          <a:latin typeface="quote-cjk-patch"/>
                        </a:rPr>
                        <a:t>V-Modell</a:t>
                      </a:r>
                      <a:endParaRPr lang="hu-HU" sz="2100" b="0" dirty="0">
                        <a:effectLst/>
                        <a:latin typeface="quote-cjk-patch"/>
                      </a:endParaRPr>
                    </a:p>
                  </a:txBody>
                  <a:tcPr marL="180326" marR="180326" marT="112704" marB="1127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3006688"/>
                  </a:ext>
                </a:extLst>
              </a:tr>
              <a:tr h="596799">
                <a:tc>
                  <a:txBody>
                    <a:bodyPr/>
                    <a:lstStyle/>
                    <a:p>
                      <a:r>
                        <a:rPr lang="hu-HU" sz="2100" b="1">
                          <a:effectLst/>
                          <a:latin typeface="quote-cjk-patch"/>
                        </a:rPr>
                        <a:t>Rugalmasság</a:t>
                      </a:r>
                      <a:endParaRPr lang="hu-HU" sz="2100" b="0">
                        <a:effectLst/>
                        <a:latin typeface="quote-cjk-patch"/>
                      </a:endParaRPr>
                    </a:p>
                  </a:txBody>
                  <a:tcPr marL="108195" marR="180326" marT="112704" marB="1127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hu-HU" sz="2100" b="0" dirty="0">
                          <a:effectLst/>
                          <a:latin typeface="quote-cjk-patch"/>
                        </a:rPr>
                        <a:t>Alacsony</a:t>
                      </a:r>
                    </a:p>
                  </a:txBody>
                  <a:tcPr marL="180326" marR="180326" marT="112704" marB="1127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hu-HU" sz="2100" b="0" dirty="0">
                          <a:effectLst/>
                          <a:latin typeface="quote-cjk-patch"/>
                        </a:rPr>
                        <a:t>Alacsony</a:t>
                      </a:r>
                    </a:p>
                  </a:txBody>
                  <a:tcPr marL="180326" marR="180326" marT="112704" marB="1127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4279941"/>
                  </a:ext>
                </a:extLst>
              </a:tr>
              <a:tr h="601771">
                <a:tc>
                  <a:txBody>
                    <a:bodyPr/>
                    <a:lstStyle/>
                    <a:p>
                      <a:r>
                        <a:rPr lang="hu-HU" sz="2100" b="1">
                          <a:effectLst/>
                          <a:latin typeface="quote-cjk-patch"/>
                        </a:rPr>
                        <a:t>Kockázatkezelés</a:t>
                      </a:r>
                      <a:endParaRPr lang="hu-HU" sz="2100" b="0">
                        <a:effectLst/>
                        <a:latin typeface="quote-cjk-patch"/>
                      </a:endParaRPr>
                    </a:p>
                  </a:txBody>
                  <a:tcPr marL="108195" marR="180326" marT="112704" marB="1127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hu-HU" sz="2100" b="0">
                          <a:effectLst/>
                          <a:latin typeface="quote-cjk-patch"/>
                        </a:rPr>
                        <a:t>Gyenge</a:t>
                      </a:r>
                    </a:p>
                  </a:txBody>
                  <a:tcPr marL="180326" marR="180326" marT="112704" marB="1127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hu-HU" sz="2100" b="0">
                          <a:effectLst/>
                          <a:latin typeface="quote-cjk-patch"/>
                        </a:rPr>
                        <a:t>Jobb</a:t>
                      </a:r>
                    </a:p>
                  </a:txBody>
                  <a:tcPr marL="180326" marR="180326" marT="112704" marB="1127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6259935"/>
                  </a:ext>
                </a:extLst>
              </a:tr>
              <a:tr h="601771">
                <a:tc>
                  <a:txBody>
                    <a:bodyPr/>
                    <a:lstStyle/>
                    <a:p>
                      <a:r>
                        <a:rPr lang="hu-HU" sz="2100" b="1">
                          <a:effectLst/>
                          <a:latin typeface="quote-cjk-patch"/>
                        </a:rPr>
                        <a:t>Minőségbiztosítás</a:t>
                      </a:r>
                      <a:endParaRPr lang="hu-HU" sz="2100" b="0">
                        <a:effectLst/>
                        <a:latin typeface="quote-cjk-patch"/>
                      </a:endParaRPr>
                    </a:p>
                  </a:txBody>
                  <a:tcPr marL="108195" marR="180326" marT="112704" marB="1127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hu-HU" sz="2100" b="0">
                          <a:effectLst/>
                          <a:latin typeface="quote-cjk-patch"/>
                        </a:rPr>
                        <a:t>A végén történik</a:t>
                      </a:r>
                    </a:p>
                  </a:txBody>
                  <a:tcPr marL="180326" marR="180326" marT="112704" marB="1127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hu-HU" sz="2100" b="0">
                          <a:effectLst/>
                          <a:latin typeface="quote-cjk-patch"/>
                        </a:rPr>
                        <a:t>Minden fázisban jelen van</a:t>
                      </a:r>
                    </a:p>
                  </a:txBody>
                  <a:tcPr marL="180326" marR="180326" marT="112704" marB="1127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7116988"/>
                  </a:ext>
                </a:extLst>
              </a:tr>
              <a:tr h="601771">
                <a:tc>
                  <a:txBody>
                    <a:bodyPr/>
                    <a:lstStyle/>
                    <a:p>
                      <a:r>
                        <a:rPr lang="hu-HU" sz="2100" b="1">
                          <a:effectLst/>
                          <a:latin typeface="quote-cjk-patch"/>
                        </a:rPr>
                        <a:t>Projekt méret</a:t>
                      </a:r>
                      <a:endParaRPr lang="hu-HU" sz="2100" b="0">
                        <a:effectLst/>
                        <a:latin typeface="quote-cjk-patch"/>
                      </a:endParaRPr>
                    </a:p>
                  </a:txBody>
                  <a:tcPr marL="108195" marR="180326" marT="112704" marB="1127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hu-HU" sz="2100" b="0">
                          <a:effectLst/>
                          <a:latin typeface="quote-cjk-patch"/>
                        </a:rPr>
                        <a:t>Kis projektjek</a:t>
                      </a:r>
                    </a:p>
                  </a:txBody>
                  <a:tcPr marL="180326" marR="180326" marT="112704" marB="1127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hu-HU" sz="2100" b="0">
                          <a:effectLst/>
                          <a:latin typeface="quote-cjk-patch"/>
                        </a:rPr>
                        <a:t>Közepes/nagy projektek</a:t>
                      </a:r>
                    </a:p>
                  </a:txBody>
                  <a:tcPr marL="180326" marR="180326" marT="112704" marB="1127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9027150"/>
                  </a:ext>
                </a:extLst>
              </a:tr>
              <a:tr h="601771">
                <a:tc>
                  <a:txBody>
                    <a:bodyPr/>
                    <a:lstStyle/>
                    <a:p>
                      <a:r>
                        <a:rPr lang="hu-HU" sz="2100" b="1">
                          <a:effectLst/>
                          <a:latin typeface="quote-cjk-patch"/>
                        </a:rPr>
                        <a:t>Változáskezelés</a:t>
                      </a:r>
                      <a:endParaRPr lang="hu-HU" sz="2100" b="0">
                        <a:effectLst/>
                        <a:latin typeface="quote-cjk-patch"/>
                      </a:endParaRPr>
                    </a:p>
                  </a:txBody>
                  <a:tcPr marL="108195" marR="180326" marT="112704" marB="1127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hu-HU" sz="2100" b="0">
                          <a:effectLst/>
                          <a:latin typeface="quote-cjk-patch"/>
                        </a:rPr>
                        <a:t>Nehézkes</a:t>
                      </a:r>
                    </a:p>
                  </a:txBody>
                  <a:tcPr marL="180326" marR="180326" marT="112704" marB="1127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hu-HU" sz="2100" b="0" dirty="0">
                          <a:effectLst/>
                          <a:latin typeface="quote-cjk-patch"/>
                        </a:rPr>
                        <a:t>Nehézkes</a:t>
                      </a:r>
                    </a:p>
                  </a:txBody>
                  <a:tcPr marL="180326" marR="180326" marT="112704" marB="1127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52487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1885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zabadkézi sokszög: alakzat 18">
            <a:extLst>
              <a:ext uri="{FF2B5EF4-FFF2-40B4-BE49-F238E27FC236}">
                <a16:creationId xmlns:a16="http://schemas.microsoft.com/office/drawing/2014/main" id="{30EC0485-829B-4C34-852F-09E36E497D13}"/>
              </a:ext>
            </a:extLst>
          </p:cNvPr>
          <p:cNvSpPr/>
          <p:nvPr/>
        </p:nvSpPr>
        <p:spPr>
          <a:xfrm rot="20314296">
            <a:off x="4006409" y="1519331"/>
            <a:ext cx="3664172" cy="3665604"/>
          </a:xfrm>
          <a:custGeom>
            <a:avLst/>
            <a:gdLst>
              <a:gd name="connsiteX0" fmla="*/ 1899595 w 3664172"/>
              <a:gd name="connsiteY0" fmla="*/ 148353 h 3665604"/>
              <a:gd name="connsiteX1" fmla="*/ 1754504 w 3664172"/>
              <a:gd name="connsiteY1" fmla="*/ 148353 h 3665604"/>
              <a:gd name="connsiteX2" fmla="*/ 1788691 w 3664172"/>
              <a:gd name="connsiteY2" fmla="*/ 145787 h 3665604"/>
              <a:gd name="connsiteX3" fmla="*/ 1982447 w 3664172"/>
              <a:gd name="connsiteY3" fmla="*/ 0 h 3665604"/>
              <a:gd name="connsiteX4" fmla="*/ 1982447 w 3664172"/>
              <a:gd name="connsiteY4" fmla="*/ 8448 h 3665604"/>
              <a:gd name="connsiteX5" fmla="*/ 1964143 w 3664172"/>
              <a:gd name="connsiteY5" fmla="*/ 6198 h 3665604"/>
              <a:gd name="connsiteX6" fmla="*/ 1784995 w 3664172"/>
              <a:gd name="connsiteY6" fmla="*/ 2053 h 3665604"/>
              <a:gd name="connsiteX7" fmla="*/ 1671144 w 3664172"/>
              <a:gd name="connsiteY7" fmla="*/ 10599 h 3665604"/>
              <a:gd name="connsiteX8" fmla="*/ 1671144 w 3664172"/>
              <a:gd name="connsiteY8" fmla="*/ 0 h 3665604"/>
              <a:gd name="connsiteX9" fmla="*/ 2501238 w 3664172"/>
              <a:gd name="connsiteY9" fmla="*/ 128531 h 3665604"/>
              <a:gd name="connsiteX10" fmla="*/ 3537073 w 3664172"/>
              <a:gd name="connsiteY10" fmla="*/ 2502670 h 3665604"/>
              <a:gd name="connsiteX11" fmla="*/ 1162934 w 3664172"/>
              <a:gd name="connsiteY11" fmla="*/ 3538504 h 3665604"/>
              <a:gd name="connsiteX12" fmla="*/ 127099 w 3664172"/>
              <a:gd name="connsiteY12" fmla="*/ 1164366 h 3665604"/>
              <a:gd name="connsiteX13" fmla="*/ 1607777 w 3664172"/>
              <a:gd name="connsiteY13" fmla="*/ 15356 h 3665604"/>
              <a:gd name="connsiteX14" fmla="*/ 1671144 w 3664172"/>
              <a:gd name="connsiteY14" fmla="*/ 10599 h 3665604"/>
              <a:gd name="connsiteX15" fmla="*/ 1671144 w 3664172"/>
              <a:gd name="connsiteY15" fmla="*/ 148353 h 3665604"/>
              <a:gd name="connsiteX16" fmla="*/ 1754504 w 3664172"/>
              <a:gd name="connsiteY16" fmla="*/ 148353 h 3665604"/>
              <a:gd name="connsiteX17" fmla="*/ 1625381 w 3664172"/>
              <a:gd name="connsiteY17" fmla="*/ 158046 h 3665604"/>
              <a:gd name="connsiteX18" fmla="*/ 260907 w 3664172"/>
              <a:gd name="connsiteY18" fmla="*/ 1216881 h 3665604"/>
              <a:gd name="connsiteX19" fmla="*/ 1215449 w 3664172"/>
              <a:gd name="connsiteY19" fmla="*/ 3404697 h 3665604"/>
              <a:gd name="connsiteX20" fmla="*/ 3403265 w 3664172"/>
              <a:gd name="connsiteY20" fmla="*/ 2450154 h 3665604"/>
              <a:gd name="connsiteX21" fmla="*/ 2448723 w 3664172"/>
              <a:gd name="connsiteY21" fmla="*/ 262339 h 3665604"/>
              <a:gd name="connsiteX22" fmla="*/ 1953780 w 3664172"/>
              <a:gd name="connsiteY22" fmla="*/ 149607 h 3665604"/>
              <a:gd name="connsiteX23" fmla="*/ 1899595 w 3664172"/>
              <a:gd name="connsiteY23" fmla="*/ 148353 h 3665604"/>
              <a:gd name="connsiteX24" fmla="*/ 1982447 w 3664172"/>
              <a:gd name="connsiteY24" fmla="*/ 148353 h 3665604"/>
              <a:gd name="connsiteX25" fmla="*/ 1982447 w 3664172"/>
              <a:gd name="connsiteY25" fmla="*/ 8448 h 3665604"/>
              <a:gd name="connsiteX26" fmla="*/ 2144029 w 3664172"/>
              <a:gd name="connsiteY26" fmla="*/ 28313 h 3665604"/>
              <a:gd name="connsiteX27" fmla="*/ 2501238 w 3664172"/>
              <a:gd name="connsiteY27" fmla="*/ 128531 h 3665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3664172" h="3665604">
                <a:moveTo>
                  <a:pt x="1899595" y="148353"/>
                </a:moveTo>
                <a:lnTo>
                  <a:pt x="1754504" y="148353"/>
                </a:lnTo>
                <a:lnTo>
                  <a:pt x="1788691" y="145787"/>
                </a:lnTo>
                <a:close/>
                <a:moveTo>
                  <a:pt x="1982447" y="0"/>
                </a:moveTo>
                <a:lnTo>
                  <a:pt x="1982447" y="8448"/>
                </a:lnTo>
                <a:lnTo>
                  <a:pt x="1964143" y="6198"/>
                </a:lnTo>
                <a:cubicBezTo>
                  <a:pt x="1904238" y="1851"/>
                  <a:pt x="1844456" y="498"/>
                  <a:pt x="1784995" y="2053"/>
                </a:cubicBezTo>
                <a:lnTo>
                  <a:pt x="1671144" y="10599"/>
                </a:lnTo>
                <a:lnTo>
                  <a:pt x="1671144" y="0"/>
                </a:lnTo>
                <a:close/>
                <a:moveTo>
                  <a:pt x="2501238" y="128531"/>
                </a:moveTo>
                <a:cubicBezTo>
                  <a:pt x="3442877" y="498094"/>
                  <a:pt x="3906635" y="1561031"/>
                  <a:pt x="3537073" y="2502670"/>
                </a:cubicBezTo>
                <a:cubicBezTo>
                  <a:pt x="3167510" y="3444308"/>
                  <a:pt x="2104573" y="3908067"/>
                  <a:pt x="1162934" y="3538504"/>
                </a:cubicBezTo>
                <a:cubicBezTo>
                  <a:pt x="221296" y="3168942"/>
                  <a:pt x="-242463" y="2106004"/>
                  <a:pt x="127099" y="1164366"/>
                </a:cubicBezTo>
                <a:cubicBezTo>
                  <a:pt x="381174" y="516989"/>
                  <a:pt x="962976" y="95486"/>
                  <a:pt x="1607777" y="15356"/>
                </a:cubicBezTo>
                <a:lnTo>
                  <a:pt x="1671144" y="10599"/>
                </a:lnTo>
                <a:lnTo>
                  <a:pt x="1671144" y="148353"/>
                </a:lnTo>
                <a:lnTo>
                  <a:pt x="1754504" y="148353"/>
                </a:lnTo>
                <a:lnTo>
                  <a:pt x="1625381" y="158046"/>
                </a:lnTo>
                <a:cubicBezTo>
                  <a:pt x="1031184" y="231887"/>
                  <a:pt x="495042" y="620311"/>
                  <a:pt x="260907" y="1216881"/>
                </a:cubicBezTo>
                <a:cubicBezTo>
                  <a:pt x="-79652" y="2084619"/>
                  <a:pt x="347711" y="3064137"/>
                  <a:pt x="1215449" y="3404697"/>
                </a:cubicBezTo>
                <a:cubicBezTo>
                  <a:pt x="2083188" y="3745256"/>
                  <a:pt x="3062706" y="3317893"/>
                  <a:pt x="3403265" y="2450154"/>
                </a:cubicBezTo>
                <a:cubicBezTo>
                  <a:pt x="3743824" y="1582416"/>
                  <a:pt x="3316461" y="602898"/>
                  <a:pt x="2448723" y="262339"/>
                </a:cubicBezTo>
                <a:cubicBezTo>
                  <a:pt x="2286022" y="198484"/>
                  <a:pt x="2119391" y="161626"/>
                  <a:pt x="1953780" y="149607"/>
                </a:cubicBezTo>
                <a:lnTo>
                  <a:pt x="1899595" y="148353"/>
                </a:lnTo>
                <a:lnTo>
                  <a:pt x="1982447" y="148353"/>
                </a:lnTo>
                <a:lnTo>
                  <a:pt x="1982447" y="8448"/>
                </a:lnTo>
                <a:lnTo>
                  <a:pt x="2144029" y="28313"/>
                </a:lnTo>
                <a:cubicBezTo>
                  <a:pt x="2263933" y="49161"/>
                  <a:pt x="2383533" y="82336"/>
                  <a:pt x="2501238" y="128531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6" name="Háromszög 5">
            <a:extLst>
              <a:ext uri="{FF2B5EF4-FFF2-40B4-BE49-F238E27FC236}">
                <a16:creationId xmlns:a16="http://schemas.microsoft.com/office/drawing/2014/main" id="{D9AF5CCE-6C54-4AFC-9964-7D3727C28B79}"/>
              </a:ext>
            </a:extLst>
          </p:cNvPr>
          <p:cNvSpPr/>
          <p:nvPr/>
        </p:nvSpPr>
        <p:spPr>
          <a:xfrm rot="3762980">
            <a:off x="4857118" y="1600659"/>
            <a:ext cx="376698" cy="32474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Téglalap: lekerekített 7">
            <a:extLst>
              <a:ext uri="{FF2B5EF4-FFF2-40B4-BE49-F238E27FC236}">
                <a16:creationId xmlns:a16="http://schemas.microsoft.com/office/drawing/2014/main" id="{527CCFED-46A3-47DA-988B-9852A586161E}"/>
              </a:ext>
            </a:extLst>
          </p:cNvPr>
          <p:cNvSpPr/>
          <p:nvPr/>
        </p:nvSpPr>
        <p:spPr>
          <a:xfrm>
            <a:off x="5231537" y="1373790"/>
            <a:ext cx="1214442" cy="54259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600" dirty="0">
                <a:latin typeface="Agency FB" panose="020B0503020202020204" pitchFamily="34" charset="0"/>
              </a:rPr>
              <a:t>Új igény felmerülése</a:t>
            </a:r>
          </a:p>
        </p:txBody>
      </p:sp>
      <p:sp>
        <p:nvSpPr>
          <p:cNvPr id="9" name="Téglalap: lekerekített 8">
            <a:extLst>
              <a:ext uri="{FF2B5EF4-FFF2-40B4-BE49-F238E27FC236}">
                <a16:creationId xmlns:a16="http://schemas.microsoft.com/office/drawing/2014/main" id="{47A028B8-2C54-45BF-8677-8463A6DFD9EE}"/>
              </a:ext>
            </a:extLst>
          </p:cNvPr>
          <p:cNvSpPr/>
          <p:nvPr/>
        </p:nvSpPr>
        <p:spPr>
          <a:xfrm>
            <a:off x="6703423" y="2063798"/>
            <a:ext cx="1385620" cy="542594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1500" dirty="0">
              <a:latin typeface="Agency FB" panose="020B0503020202020204" pitchFamily="34" charset="0"/>
            </a:endParaRPr>
          </a:p>
          <a:p>
            <a:pPr algn="ctr"/>
            <a:r>
              <a:rPr lang="hu-HU" sz="1500" dirty="0">
                <a:latin typeface="Agency FB" panose="020B0503020202020204" pitchFamily="34" charset="0"/>
              </a:rPr>
              <a:t>Igények elemzése, meghatározása	</a:t>
            </a:r>
          </a:p>
        </p:txBody>
      </p:sp>
      <p:sp>
        <p:nvSpPr>
          <p:cNvPr id="10" name="Téglalap: lekerekített 9">
            <a:extLst>
              <a:ext uri="{FF2B5EF4-FFF2-40B4-BE49-F238E27FC236}">
                <a16:creationId xmlns:a16="http://schemas.microsoft.com/office/drawing/2014/main" id="{CCBC874E-DE05-4898-9C4C-A1206010D082}"/>
              </a:ext>
            </a:extLst>
          </p:cNvPr>
          <p:cNvSpPr/>
          <p:nvPr/>
        </p:nvSpPr>
        <p:spPr>
          <a:xfrm>
            <a:off x="6977544" y="3032331"/>
            <a:ext cx="1385620" cy="54259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600" dirty="0">
                <a:latin typeface="Agency FB" panose="020B0503020202020204" pitchFamily="34" charset="0"/>
              </a:rPr>
              <a:t>Rendszerjavaslat kidolgozása</a:t>
            </a:r>
          </a:p>
        </p:txBody>
      </p:sp>
      <p:sp>
        <p:nvSpPr>
          <p:cNvPr id="11" name="Téglalap: lekerekített 10">
            <a:extLst>
              <a:ext uri="{FF2B5EF4-FFF2-40B4-BE49-F238E27FC236}">
                <a16:creationId xmlns:a16="http://schemas.microsoft.com/office/drawing/2014/main" id="{26959CE5-C53A-4DBD-9BC4-173CC9AF9FDA}"/>
              </a:ext>
            </a:extLst>
          </p:cNvPr>
          <p:cNvSpPr/>
          <p:nvPr/>
        </p:nvSpPr>
        <p:spPr>
          <a:xfrm>
            <a:off x="6631139" y="4046422"/>
            <a:ext cx="1385620" cy="542594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600" dirty="0" err="1">
                <a:latin typeface="Agency FB" panose="020B0503020202020204" pitchFamily="34" charset="0"/>
              </a:rPr>
              <a:t>Rendszerspeci-fikáció</a:t>
            </a:r>
            <a:endParaRPr lang="hu-HU" sz="1600" dirty="0">
              <a:latin typeface="Agency FB" panose="020B0503020202020204" pitchFamily="34" charset="0"/>
            </a:endParaRPr>
          </a:p>
        </p:txBody>
      </p:sp>
      <p:sp>
        <p:nvSpPr>
          <p:cNvPr id="12" name="Téglalap: lekerekített 11">
            <a:extLst>
              <a:ext uri="{FF2B5EF4-FFF2-40B4-BE49-F238E27FC236}">
                <a16:creationId xmlns:a16="http://schemas.microsoft.com/office/drawing/2014/main" id="{C20CB575-AC26-4814-A97E-268F857B7164}"/>
              </a:ext>
            </a:extLst>
          </p:cNvPr>
          <p:cNvSpPr/>
          <p:nvPr/>
        </p:nvSpPr>
        <p:spPr>
          <a:xfrm>
            <a:off x="5938329" y="4789216"/>
            <a:ext cx="1385620" cy="54259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600" dirty="0">
                <a:latin typeface="Agency FB" panose="020B0503020202020204" pitchFamily="34" charset="0"/>
              </a:rPr>
              <a:t>Logikai és fizikai tervezés</a:t>
            </a:r>
          </a:p>
        </p:txBody>
      </p:sp>
      <p:sp>
        <p:nvSpPr>
          <p:cNvPr id="13" name="Téglalap: lekerekített 12">
            <a:extLst>
              <a:ext uri="{FF2B5EF4-FFF2-40B4-BE49-F238E27FC236}">
                <a16:creationId xmlns:a16="http://schemas.microsoft.com/office/drawing/2014/main" id="{2B5BDA42-70E4-461E-BE4F-0D8457206AD9}"/>
              </a:ext>
            </a:extLst>
          </p:cNvPr>
          <p:cNvSpPr/>
          <p:nvPr/>
        </p:nvSpPr>
        <p:spPr>
          <a:xfrm>
            <a:off x="4400007" y="4789216"/>
            <a:ext cx="1385620" cy="54259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600" dirty="0">
                <a:latin typeface="Agency FB" panose="020B0503020202020204" pitchFamily="34" charset="0"/>
              </a:rPr>
              <a:t>Implementáció</a:t>
            </a:r>
          </a:p>
        </p:txBody>
      </p:sp>
      <p:sp>
        <p:nvSpPr>
          <p:cNvPr id="14" name="Téglalap: lekerekített 13">
            <a:extLst>
              <a:ext uri="{FF2B5EF4-FFF2-40B4-BE49-F238E27FC236}">
                <a16:creationId xmlns:a16="http://schemas.microsoft.com/office/drawing/2014/main" id="{40FFDC68-2D18-41FF-8790-D0AC02CAAC34}"/>
              </a:ext>
            </a:extLst>
          </p:cNvPr>
          <p:cNvSpPr/>
          <p:nvPr/>
        </p:nvSpPr>
        <p:spPr>
          <a:xfrm>
            <a:off x="3405455" y="4046422"/>
            <a:ext cx="1385620" cy="54259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600" dirty="0">
                <a:latin typeface="Agency FB" panose="020B0503020202020204" pitchFamily="34" charset="0"/>
              </a:rPr>
              <a:t>Tesztelés</a:t>
            </a:r>
          </a:p>
        </p:txBody>
      </p:sp>
      <p:sp>
        <p:nvSpPr>
          <p:cNvPr id="15" name="Téglalap: lekerekített 14">
            <a:extLst>
              <a:ext uri="{FF2B5EF4-FFF2-40B4-BE49-F238E27FC236}">
                <a16:creationId xmlns:a16="http://schemas.microsoft.com/office/drawing/2014/main" id="{DB42D1E8-7617-48E3-AF99-133EC6EEB1D7}"/>
              </a:ext>
            </a:extLst>
          </p:cNvPr>
          <p:cNvSpPr/>
          <p:nvPr/>
        </p:nvSpPr>
        <p:spPr>
          <a:xfrm>
            <a:off x="3277485" y="3032331"/>
            <a:ext cx="1385620" cy="54259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600" dirty="0">
                <a:latin typeface="Agency FB" panose="020B0503020202020204" pitchFamily="34" charset="0"/>
              </a:rPr>
              <a:t>Rendszerátadása és bevezetése</a:t>
            </a:r>
          </a:p>
        </p:txBody>
      </p:sp>
      <p:sp>
        <p:nvSpPr>
          <p:cNvPr id="16" name="Téglalap: lekerekített 15">
            <a:extLst>
              <a:ext uri="{FF2B5EF4-FFF2-40B4-BE49-F238E27FC236}">
                <a16:creationId xmlns:a16="http://schemas.microsoft.com/office/drawing/2014/main" id="{2E1F8B33-3C5A-45F5-8289-B9BB57E8A774}"/>
              </a:ext>
            </a:extLst>
          </p:cNvPr>
          <p:cNvSpPr/>
          <p:nvPr/>
        </p:nvSpPr>
        <p:spPr>
          <a:xfrm>
            <a:off x="3700791" y="2063798"/>
            <a:ext cx="1385620" cy="54259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600" dirty="0">
                <a:latin typeface="Agency FB" panose="020B0503020202020204" pitchFamily="34" charset="0"/>
              </a:rPr>
              <a:t>Üzemeltetés és karbantartás</a:t>
            </a:r>
          </a:p>
        </p:txBody>
      </p:sp>
    </p:spTree>
    <p:extLst>
      <p:ext uri="{BB962C8B-B14F-4D97-AF65-F5344CB8AC3E}">
        <p14:creationId xmlns:p14="http://schemas.microsoft.com/office/powerpoint/2010/main" val="38634399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TM02836342[[fn=Ion]]</Template>
  <TotalTime>0</TotalTime>
  <Words>226</Words>
  <Application>Microsoft Office PowerPoint</Application>
  <PresentationFormat>Szélesvásznú</PresentationFormat>
  <Paragraphs>76</Paragraphs>
  <Slides>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13" baseType="lpstr">
      <vt:lpstr>Agency FB</vt:lpstr>
      <vt:lpstr>Arial</vt:lpstr>
      <vt:lpstr>Century Gothic</vt:lpstr>
      <vt:lpstr>quote-cjk-patch</vt:lpstr>
      <vt:lpstr>Wingdings 3</vt:lpstr>
      <vt:lpstr>Ion</vt:lpstr>
      <vt:lpstr>Vízesés modell, V-modell</vt:lpstr>
      <vt:lpstr>Vízesés modell</vt:lpstr>
      <vt:lpstr>PowerPoint-bemutató</vt:lpstr>
      <vt:lpstr>V-MODELL</vt:lpstr>
      <vt:lpstr>PowerPoint-bemutató</vt:lpstr>
      <vt:lpstr>Összefoglaló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Vízesés modell (V-modell)</dc:title>
  <dc:creator>Boros Dániel</dc:creator>
  <cp:lastModifiedBy>Boros Dániel</cp:lastModifiedBy>
  <cp:revision>34</cp:revision>
  <dcterms:created xsi:type="dcterms:W3CDTF">2025-09-15T06:43:27Z</dcterms:created>
  <dcterms:modified xsi:type="dcterms:W3CDTF">2025-09-22T06:06:53Z</dcterms:modified>
</cp:coreProperties>
</file>